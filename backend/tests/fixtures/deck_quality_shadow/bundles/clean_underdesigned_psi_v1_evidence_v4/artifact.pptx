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-box-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-cover-rail-box-1"/>
          <p:cNvSpPr/>
          <p:nvPr/>
        </p:nvSpPr>
        <p:spPr>
          <a:xfrm>
            <a:off x="1143000" y="2000707"/>
            <a:ext cx="95097" cy="6286500"/>
          </a:xfrm>
          <a:prstGeom prst="rect">
            <a:avLst/>
          </a:prstGeom>
          <a:solidFill>
            <a:srgbClr val="B4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2p-1-cover-headline-text-1"/>
          <p:cNvSpPr txBox="1"/>
          <p:nvPr/>
        </p:nvSpPr>
        <p:spPr>
          <a:xfrm>
            <a:off x="1619402" y="1714500"/>
            <a:ext cx="14066215" cy="400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7200">
                <a:solidFill>
                  <a:srgbClr val="1C1A17"/>
                </a:solidFill>
                <a:latin typeface="Cambria"/>
              </a:rPr>
              <a:t>Motivation is the</a:t>
            </a:r>
          </a:p>
          <a:p>
            <a:pPr marL="0" indent="0" algn="l">
              <a:lnSpc>
                <a:spcPts val="8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7200">
                <a:solidFill>
                  <a:srgbClr val="1C1A17"/>
                </a:solidFill>
                <a:latin typeface="Cambria"/>
              </a:rPr>
              <a:t>control signal for</a:t>
            </a:r>
          </a:p>
          <a:p>
            <a:pPr marL="0" indent="0" algn="l">
              <a:lnSpc>
                <a:spcPts val="8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7200">
                <a:solidFill>
                  <a:srgbClr val="1C1A17"/>
                </a:solidFill>
                <a:latin typeface="Cambria"/>
              </a:rPr>
              <a:t>autonomous agents.</a:t>
            </a:r>
          </a:p>
        </p:txBody>
      </p:sp>
      <p:sp>
        <p:nvSpPr>
          <p:cNvPr id="5" name="h2p-1-cover-sub-text-1"/>
          <p:cNvSpPr txBox="1"/>
          <p:nvPr/>
        </p:nvSpPr>
        <p:spPr>
          <a:xfrm>
            <a:off x="1666951" y="6286500"/>
            <a:ext cx="11463832" cy="171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2F4A6B"/>
                </a:solidFill>
                <a:latin typeface="Calibri"/>
              </a:rPr>
              <a:t>Not a mood layer bolted onto reasoning — a PSI-derived architecture where competing motives arbitrate every action an agent takes.</a:t>
            </a:r>
          </a:p>
        </p:txBody>
      </p:sp>
      <p:sp>
        <p:nvSpPr>
          <p:cNvPr id="6" name="h2p-1-cover-meta-text-1"/>
          <p:cNvSpPr txBox="1"/>
          <p:nvPr/>
        </p:nvSpPr>
        <p:spPr>
          <a:xfrm>
            <a:off x="1666951" y="8572500"/>
            <a:ext cx="12629692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C1A17"/>
                </a:solidFill>
                <a:latin typeface="Calibri"/>
              </a:rPr>
              <a:t>PSI Agent Architecture — briefing for product &amp; engineering leaders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2-box-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2-loop-title-text-1"/>
          <p:cNvSpPr txBox="1"/>
          <p:nvPr/>
        </p:nvSpPr>
        <p:spPr>
          <a:xfrm>
            <a:off x="1143000" y="857707"/>
            <a:ext cx="12877495" cy="76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900">
                <a:solidFill>
                  <a:srgbClr val="1C1A17"/>
                </a:solidFill>
                <a:latin typeface="Cambria"/>
              </a:rPr>
              <a:t>Perception → Appraisal → Motives → Action</a:t>
            </a:r>
          </a:p>
        </p:txBody>
      </p:sp>
      <p:sp>
        <p:nvSpPr>
          <p:cNvPr id="4" name="h2p-2-node-perception-box-1"/>
          <p:cNvSpPr/>
          <p:nvPr/>
        </p:nvSpPr>
        <p:spPr>
          <a:xfrm>
            <a:off x="1143000" y="4000500"/>
            <a:ext cx="3238804" cy="2476195"/>
          </a:xfrm>
          <a:prstGeom prst="roundRect">
            <a:avLst>
              <a:gd name="adj" fmla="val 3850"/>
            </a:avLst>
          </a:prstGeom>
          <a:solidFill>
            <a:srgbClr val="FBF7EE"/>
          </a:solidFill>
          <a:ln w="27940">
            <a:solidFill>
              <a:srgbClr val="1C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2p-2-text-2"/>
          <p:cNvSpPr txBox="1"/>
          <p:nvPr/>
        </p:nvSpPr>
        <p:spPr>
          <a:xfrm>
            <a:off x="1399946" y="4257446"/>
            <a:ext cx="2832811" cy="295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20">
                <a:solidFill>
                  <a:srgbClr val="1C1A17"/>
                </a:solidFill>
                <a:latin typeface="Cambria"/>
              </a:rPr>
              <a:t>Perception</a:t>
            </a:r>
          </a:p>
        </p:txBody>
      </p:sp>
      <p:sp>
        <p:nvSpPr>
          <p:cNvPr id="6" name="h2p-2-text-3"/>
          <p:cNvSpPr txBox="1"/>
          <p:nvPr/>
        </p:nvSpPr>
        <p:spPr>
          <a:xfrm>
            <a:off x="1399946" y="4667097"/>
            <a:ext cx="2778861" cy="9253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2F4A6B"/>
                </a:solidFill>
                <a:latin typeface="Calibri"/>
              </a:rPr>
              <a:t>Sense the environment and prior outcomes; form situational state.</a:t>
            </a:r>
          </a:p>
        </p:txBody>
      </p:sp>
      <p:sp>
        <p:nvSpPr>
          <p:cNvPr id="7" name="h2p-2-node-appraisal-box-1"/>
          <p:cNvSpPr/>
          <p:nvPr/>
        </p:nvSpPr>
        <p:spPr>
          <a:xfrm>
            <a:off x="5333695" y="4000500"/>
            <a:ext cx="3238804" cy="2476195"/>
          </a:xfrm>
          <a:prstGeom prst="roundRect">
            <a:avLst>
              <a:gd name="adj" fmla="val 3850"/>
            </a:avLst>
          </a:prstGeom>
          <a:solidFill>
            <a:srgbClr val="FBF7EE"/>
          </a:solidFill>
          <a:ln w="27940">
            <a:solidFill>
              <a:srgbClr val="1C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2-text-4"/>
          <p:cNvSpPr txBox="1"/>
          <p:nvPr/>
        </p:nvSpPr>
        <p:spPr>
          <a:xfrm>
            <a:off x="5591556" y="4257446"/>
            <a:ext cx="2832811" cy="295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20">
                <a:solidFill>
                  <a:srgbClr val="1C1A17"/>
                </a:solidFill>
                <a:latin typeface="Cambria"/>
              </a:rPr>
              <a:t>Appraisal</a:t>
            </a:r>
          </a:p>
        </p:txBody>
      </p:sp>
      <p:sp>
        <p:nvSpPr>
          <p:cNvPr id="9" name="h2p-2-text-5"/>
          <p:cNvSpPr txBox="1"/>
          <p:nvPr/>
        </p:nvSpPr>
        <p:spPr>
          <a:xfrm>
            <a:off x="5591556" y="4667097"/>
            <a:ext cx="2778861" cy="9253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2F4A6B"/>
                </a:solidFill>
                <a:latin typeface="Calibri"/>
              </a:rPr>
              <a:t>Evaluate the state against standing needs and current urgency.</a:t>
            </a:r>
          </a:p>
        </p:txBody>
      </p:sp>
      <p:sp>
        <p:nvSpPr>
          <p:cNvPr id="10" name="h2p-2-node-motives-box-1"/>
          <p:cNvSpPr/>
          <p:nvPr/>
        </p:nvSpPr>
        <p:spPr>
          <a:xfrm>
            <a:off x="9525304" y="4000500"/>
            <a:ext cx="3238804" cy="2476195"/>
          </a:xfrm>
          <a:prstGeom prst="roundRect">
            <a:avLst>
              <a:gd name="adj" fmla="val 3850"/>
            </a:avLst>
          </a:prstGeom>
          <a:solidFill>
            <a:srgbClr val="FBF7EE"/>
          </a:solidFill>
          <a:ln w="27940">
            <a:solidFill>
              <a:srgbClr val="1C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2-text-6"/>
          <p:cNvSpPr txBox="1"/>
          <p:nvPr/>
        </p:nvSpPr>
        <p:spPr>
          <a:xfrm>
            <a:off x="9782251" y="4257446"/>
            <a:ext cx="2832811" cy="295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20">
                <a:solidFill>
                  <a:srgbClr val="1C1A17"/>
                </a:solidFill>
                <a:latin typeface="Cambria"/>
              </a:rPr>
              <a:t>Motives</a:t>
            </a:r>
          </a:p>
        </p:txBody>
      </p:sp>
      <p:sp>
        <p:nvSpPr>
          <p:cNvPr id="12" name="h2p-2-text-7"/>
          <p:cNvSpPr txBox="1"/>
          <p:nvPr/>
        </p:nvSpPr>
        <p:spPr>
          <a:xfrm>
            <a:off x="9782251" y="4667097"/>
            <a:ext cx="2778861" cy="9253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2F4A6B"/>
                </a:solidFill>
                <a:latin typeface="Calibri"/>
              </a:rPr>
              <a:t>Competing goals are weighted; one motive gains control priority.</a:t>
            </a:r>
          </a:p>
        </p:txBody>
      </p:sp>
      <p:sp>
        <p:nvSpPr>
          <p:cNvPr id="13" name="h2p-2-node-action-box-1"/>
          <p:cNvSpPr/>
          <p:nvPr/>
        </p:nvSpPr>
        <p:spPr>
          <a:xfrm>
            <a:off x="13716000" y="4000500"/>
            <a:ext cx="3238804" cy="2476195"/>
          </a:xfrm>
          <a:prstGeom prst="roundRect">
            <a:avLst>
              <a:gd name="adj" fmla="val 3850"/>
            </a:avLst>
          </a:prstGeom>
          <a:solidFill>
            <a:srgbClr val="FBF7EE"/>
          </a:solidFill>
          <a:ln w="27940">
            <a:solidFill>
              <a:srgbClr val="1C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2-text-8"/>
          <p:cNvSpPr txBox="1"/>
          <p:nvPr/>
        </p:nvSpPr>
        <p:spPr>
          <a:xfrm>
            <a:off x="13972946" y="4257446"/>
            <a:ext cx="2832811" cy="295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20">
                <a:solidFill>
                  <a:srgbClr val="1C1A17"/>
                </a:solidFill>
                <a:latin typeface="Cambria"/>
              </a:rPr>
              <a:t>Action</a:t>
            </a:r>
          </a:p>
        </p:txBody>
      </p:sp>
      <p:sp>
        <p:nvSpPr>
          <p:cNvPr id="15" name="h2p-2-text-9"/>
          <p:cNvSpPr txBox="1"/>
          <p:nvPr/>
        </p:nvSpPr>
        <p:spPr>
          <a:xfrm>
            <a:off x="13972946" y="4667097"/>
            <a:ext cx="2778861" cy="9253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2F4A6B"/>
                </a:solidFill>
                <a:latin typeface="Calibri"/>
              </a:rPr>
              <a:t>The winning motive executes; outcome becomes new perception.</a:t>
            </a:r>
          </a:p>
        </p:txBody>
      </p:sp>
      <p:sp>
        <p:nvSpPr>
          <p:cNvPr id="16" name="h2p-2-conn-1-box-1"/>
          <p:cNvSpPr/>
          <p:nvPr/>
        </p:nvSpPr>
        <p:spPr>
          <a:xfrm>
            <a:off x="4381804" y="5210251"/>
            <a:ext cx="952804" cy="56692"/>
          </a:xfrm>
          <a:prstGeom prst="rect">
            <a:avLst/>
          </a:prstGeom>
          <a:solidFill>
            <a:srgbClr val="2F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2-conn-2-box-1"/>
          <p:cNvSpPr/>
          <p:nvPr/>
        </p:nvSpPr>
        <p:spPr>
          <a:xfrm>
            <a:off x="8572500" y="5210251"/>
            <a:ext cx="952804" cy="56692"/>
          </a:xfrm>
          <a:prstGeom prst="rect">
            <a:avLst/>
          </a:prstGeom>
          <a:solidFill>
            <a:srgbClr val="2F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2-conn-3-box-1"/>
          <p:cNvSpPr/>
          <p:nvPr/>
        </p:nvSpPr>
        <p:spPr>
          <a:xfrm>
            <a:off x="12763195" y="5210251"/>
            <a:ext cx="952804" cy="56692"/>
          </a:xfrm>
          <a:prstGeom prst="rect">
            <a:avLst/>
          </a:prstGeom>
          <a:solidFill>
            <a:srgbClr val="2F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2-conn-feedback-box-1"/>
          <p:cNvSpPr/>
          <p:nvPr/>
        </p:nvSpPr>
        <p:spPr>
          <a:xfrm>
            <a:off x="2762402" y="6953097"/>
            <a:ext cx="13334695" cy="47548"/>
          </a:xfrm>
          <a:prstGeom prst="rect">
            <a:avLst/>
          </a:prstGeom>
          <a:solidFill>
            <a:srgbClr val="B4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2-feedback-label-text-1"/>
          <p:cNvSpPr txBox="1"/>
          <p:nvPr/>
        </p:nvSpPr>
        <p:spPr>
          <a:xfrm>
            <a:off x="2762402" y="7143292"/>
            <a:ext cx="13601700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B4472A"/>
                </a:solidFill>
                <a:latin typeface="Calibri"/>
              </a:rPr>
              <a:t>Feedback: outcomes re-enter perception on the next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3-box-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3-scenario-title-text-1"/>
          <p:cNvSpPr txBox="1"/>
          <p:nvPr/>
        </p:nvSpPr>
        <p:spPr>
          <a:xfrm>
            <a:off x="1143000" y="857707"/>
            <a:ext cx="14859000" cy="6665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600">
                <a:solidFill>
                  <a:srgbClr val="1C1A17"/>
                </a:solidFill>
                <a:latin typeface="Cambria"/>
              </a:rPr>
              <a:t>Scenario: delete-all-records request</a:t>
            </a:r>
          </a:p>
        </p:txBody>
      </p:sp>
      <p:sp>
        <p:nvSpPr>
          <p:cNvPr id="4" name="h2p-3-scenario-setup-text-1"/>
          <p:cNvSpPr txBox="1"/>
          <p:nvPr/>
        </p:nvSpPr>
        <p:spPr>
          <a:xfrm>
            <a:off x="1143000" y="1809597"/>
            <a:ext cx="16322040" cy="76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>
                <a:solidFill>
                  <a:srgbClr val="2F4A6B"/>
                </a:solidFill>
                <a:latin typeface="Calibri"/>
              </a:rPr>
              <a:t>A user asks the agent to delete every record in a shared workspace, right now, no confirmation.</a:t>
            </a:r>
          </a:p>
        </p:txBody>
      </p:sp>
      <p:sp>
        <p:nvSpPr>
          <p:cNvPr id="5" name="h2p-3-motive-help-box-1"/>
          <p:cNvSpPr/>
          <p:nvPr/>
        </p:nvSpPr>
        <p:spPr>
          <a:xfrm>
            <a:off x="1143000" y="3238804"/>
            <a:ext cx="7239304" cy="2857500"/>
          </a:xfrm>
          <a:prstGeom prst="roundRect">
            <a:avLst>
              <a:gd name="adj" fmla="val 3330"/>
            </a:avLst>
          </a:prstGeom>
          <a:solidFill>
            <a:srgbClr val="FBF7EE"/>
          </a:solidFill>
          <a:ln w="27940">
            <a:solidFill>
              <a:srgbClr val="2F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2p-3-text-2"/>
          <p:cNvSpPr txBox="1"/>
          <p:nvPr/>
        </p:nvSpPr>
        <p:spPr>
          <a:xfrm>
            <a:off x="1476756" y="3571646"/>
            <a:ext cx="6835140" cy="295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20">
                <a:solidFill>
                  <a:srgbClr val="2F4A6B"/>
                </a:solidFill>
                <a:latin typeface="Cambria"/>
              </a:rPr>
              <a:t>Motive: Helpfulness</a:t>
            </a:r>
          </a:p>
        </p:txBody>
      </p:sp>
      <p:sp>
        <p:nvSpPr>
          <p:cNvPr id="7" name="h2p-3-text-3"/>
          <p:cNvSpPr txBox="1"/>
          <p:nvPr/>
        </p:nvSpPr>
        <p:spPr>
          <a:xfrm>
            <a:off x="1476756" y="4019702"/>
            <a:ext cx="670346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2F4A6B"/>
                </a:solidFill>
                <a:latin typeface="Calibri"/>
              </a:rPr>
              <a:t>Weight rises from user urgency and directness of the request. Pulls toward immediate execution.</a:t>
            </a:r>
          </a:p>
        </p:txBody>
      </p:sp>
      <p:sp>
        <p:nvSpPr>
          <p:cNvPr id="8" name="h2p-3-motive-caution-box-1"/>
          <p:cNvSpPr/>
          <p:nvPr/>
        </p:nvSpPr>
        <p:spPr>
          <a:xfrm>
            <a:off x="9715500" y="3238804"/>
            <a:ext cx="7239304" cy="2857500"/>
          </a:xfrm>
          <a:prstGeom prst="roundRect">
            <a:avLst>
              <a:gd name="adj" fmla="val 3330"/>
            </a:avLst>
          </a:prstGeom>
          <a:solidFill>
            <a:srgbClr val="FBF7EE"/>
          </a:solidFill>
          <a:ln w="27940">
            <a:solidFill>
              <a:srgbClr val="B44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3-text-4"/>
          <p:cNvSpPr txBox="1"/>
          <p:nvPr/>
        </p:nvSpPr>
        <p:spPr>
          <a:xfrm>
            <a:off x="10049256" y="3571646"/>
            <a:ext cx="6835140" cy="295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020">
                <a:solidFill>
                  <a:srgbClr val="B4472A"/>
                </a:solidFill>
                <a:latin typeface="Cambria"/>
              </a:rPr>
              <a:t>Motive: Caution</a:t>
            </a:r>
          </a:p>
        </p:txBody>
      </p:sp>
      <p:sp>
        <p:nvSpPr>
          <p:cNvPr id="10" name="h2p-3-text-5"/>
          <p:cNvSpPr txBox="1"/>
          <p:nvPr/>
        </p:nvSpPr>
        <p:spPr>
          <a:xfrm>
            <a:off x="10049256" y="4019702"/>
            <a:ext cx="670346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2F4A6B"/>
                </a:solidFill>
                <a:latin typeface="Calibri"/>
              </a:rPr>
              <a:t>Weight rises sharply because the action is irreversible and destructive. Pulls toward verification.</a:t>
            </a:r>
          </a:p>
        </p:txBody>
      </p:sp>
      <p:sp>
        <p:nvSpPr>
          <p:cNvPr id="11" name="h2p-3-vs-mark-text-1"/>
          <p:cNvSpPr txBox="1"/>
          <p:nvPr/>
        </p:nvSpPr>
        <p:spPr>
          <a:xfrm>
            <a:off x="8572500" y="4334256"/>
            <a:ext cx="1165860" cy="6665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1C1A17"/>
                </a:solidFill>
                <a:latin typeface="Calibri"/>
              </a:rPr>
              <a:t>vs</a:t>
            </a:r>
          </a:p>
        </p:txBody>
      </p:sp>
      <p:sp>
        <p:nvSpPr>
          <p:cNvPr id="12" name="h2p-3-conn-down-box-1"/>
          <p:cNvSpPr/>
          <p:nvPr/>
        </p:nvSpPr>
        <p:spPr>
          <a:xfrm>
            <a:off x="9115653" y="6096304"/>
            <a:ext cx="56692" cy="1047902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3-resolution-box-1"/>
          <p:cNvSpPr/>
          <p:nvPr/>
        </p:nvSpPr>
        <p:spPr>
          <a:xfrm>
            <a:off x="1143000" y="7334402"/>
            <a:ext cx="16763695" cy="2342692"/>
          </a:xfrm>
          <a:prstGeom prst="roundRect">
            <a:avLst>
              <a:gd name="adj" fmla="val 3250"/>
            </a:avLst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h2p-3-resolution-line-1-part-2"/>
          <p:cNvCxnSpPr/>
          <p:nvPr/>
        </p:nvCxnSpPr>
        <p:spPr>
          <a:xfrm>
            <a:off x="1181404" y="7334402"/>
            <a:ext cx="0" cy="2342693"/>
          </a:xfrm>
          <a:prstGeom prst="line">
            <a:avLst/>
          </a:prstGeom>
          <a:ln w="76200">
            <a:solidFill>
              <a:srgbClr val="B44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h2p-3-text-6"/>
          <p:cNvSpPr txBox="1"/>
          <p:nvPr/>
        </p:nvSpPr>
        <p:spPr>
          <a:xfrm>
            <a:off x="1561795" y="7600492"/>
            <a:ext cx="16642080" cy="285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950">
                <a:solidFill>
                  <a:srgbClr val="B4472A"/>
                </a:solidFill>
                <a:latin typeface="Cambria"/>
              </a:rPr>
              <a:t>Resolution: Caution wins on irreversibility, not on rules</a:t>
            </a:r>
          </a:p>
        </p:txBody>
      </p:sp>
      <p:sp>
        <p:nvSpPr>
          <p:cNvPr id="16" name="h2p-3-text-7"/>
          <p:cNvSpPr txBox="1"/>
          <p:nvPr/>
        </p:nvSpPr>
        <p:spPr>
          <a:xfrm>
            <a:off x="1561795" y="7981797"/>
            <a:ext cx="16322040" cy="308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C1A17"/>
                </a:solidFill>
                <a:latin typeface="Calibri"/>
              </a:rPr>
              <a:t>Agent asks for explicit confirmation before deleting. The action selected is the one the highest-weighted motive licenses — not a fixed policy branch.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4-box-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4-comp-title-text-1"/>
          <p:cNvSpPr txBox="1"/>
          <p:nvPr/>
        </p:nvSpPr>
        <p:spPr>
          <a:xfrm>
            <a:off x="1143000" y="857707"/>
            <a:ext cx="14859000" cy="6665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600">
                <a:solidFill>
                  <a:srgbClr val="1C1A17"/>
                </a:solidFill>
                <a:latin typeface="Cambria"/>
              </a:rPr>
              <a:t>What changes when motives govern action</a:t>
            </a:r>
          </a:p>
        </p:txBody>
      </p:sp>
      <p:sp>
        <p:nvSpPr>
          <p:cNvPr id="4" name="h2p-4-col-head-baseline-text-1"/>
          <p:cNvSpPr txBox="1"/>
          <p:nvPr/>
        </p:nvSpPr>
        <p:spPr>
          <a:xfrm>
            <a:off x="6096304" y="1904695"/>
            <a:ext cx="5052060" cy="476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2F4A6B"/>
                </a:solidFill>
                <a:latin typeface="Calibri"/>
              </a:rPr>
              <a:t>Baseline prompt-and-tool agent</a:t>
            </a:r>
          </a:p>
        </p:txBody>
      </p:sp>
      <p:sp>
        <p:nvSpPr>
          <p:cNvPr id="5" name="h2p-4-col-head-psi-text-1"/>
          <p:cNvSpPr txBox="1"/>
          <p:nvPr/>
        </p:nvSpPr>
        <p:spPr>
          <a:xfrm>
            <a:off x="11620195" y="1904695"/>
            <a:ext cx="5635447" cy="476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B4472A"/>
                </a:solidFill>
                <a:latin typeface="Calibri"/>
              </a:rPr>
              <a:t>PSI motivation-governed agent</a:t>
            </a:r>
          </a:p>
        </p:txBody>
      </p:sp>
      <p:sp>
        <p:nvSpPr>
          <p:cNvPr id="6" name="h2p-4-divider-v-box-1"/>
          <p:cNvSpPr/>
          <p:nvPr/>
        </p:nvSpPr>
        <p:spPr>
          <a:xfrm>
            <a:off x="11020348" y="2571292"/>
            <a:ext cx="28346" cy="62865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4-row1-label-text-1"/>
          <p:cNvSpPr txBox="1"/>
          <p:nvPr/>
        </p:nvSpPr>
        <p:spPr>
          <a:xfrm>
            <a:off x="1143000" y="2762402"/>
            <a:ext cx="4663440" cy="76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950">
                <a:solidFill>
                  <a:srgbClr val="1C1A17"/>
                </a:solidFill>
                <a:latin typeface="Calibri"/>
              </a:rPr>
              <a:t>Action selection</a:t>
            </a:r>
          </a:p>
        </p:txBody>
      </p:sp>
      <p:sp>
        <p:nvSpPr>
          <p:cNvPr id="8" name="h2p-4-row1-base-text-1"/>
          <p:cNvSpPr txBox="1"/>
          <p:nvPr/>
        </p:nvSpPr>
        <p:spPr>
          <a:xfrm>
            <a:off x="6096304" y="2762402"/>
            <a:ext cx="4857292" cy="952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C1A17"/>
                </a:solidFill>
                <a:latin typeface="Calibri"/>
              </a:rPr>
              <a:t>Ranked by prompt heuristics or tool priority order</a:t>
            </a:r>
          </a:p>
        </p:txBody>
      </p:sp>
      <p:sp>
        <p:nvSpPr>
          <p:cNvPr id="9" name="h2p-4-row1-psi-text-1"/>
          <p:cNvSpPr txBox="1"/>
          <p:nvPr/>
        </p:nvSpPr>
        <p:spPr>
          <a:xfrm>
            <a:off x="11620195" y="2762402"/>
            <a:ext cx="5440680" cy="952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C1A17"/>
                </a:solidFill>
                <a:latin typeface="Calibri"/>
              </a:rPr>
              <a:t>Arbitrated by weighted, competing motive strength</a:t>
            </a:r>
          </a:p>
        </p:txBody>
      </p:sp>
      <p:sp>
        <p:nvSpPr>
          <p:cNvPr id="10" name="h2p-4-rule1-box-1"/>
          <p:cNvSpPr/>
          <p:nvPr/>
        </p:nvSpPr>
        <p:spPr>
          <a:xfrm>
            <a:off x="1143000" y="3905402"/>
            <a:ext cx="16002000" cy="19202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4-row2-label-text-1"/>
          <p:cNvSpPr txBox="1"/>
          <p:nvPr/>
        </p:nvSpPr>
        <p:spPr>
          <a:xfrm>
            <a:off x="1143000" y="4190695"/>
            <a:ext cx="4663440" cy="76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950">
                <a:solidFill>
                  <a:srgbClr val="1C1A17"/>
                </a:solidFill>
                <a:latin typeface="Calibri"/>
              </a:rPr>
              <a:t>Failure under pressure</a:t>
            </a:r>
          </a:p>
        </p:txBody>
      </p:sp>
      <p:sp>
        <p:nvSpPr>
          <p:cNvPr id="12" name="h2p-4-row2-base-text-1"/>
          <p:cNvSpPr txBox="1"/>
          <p:nvPr/>
        </p:nvSpPr>
        <p:spPr>
          <a:xfrm>
            <a:off x="6096304" y="4190695"/>
            <a:ext cx="4857292" cy="10479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C1A17"/>
                </a:solidFill>
                <a:latin typeface="Calibri"/>
              </a:rPr>
              <a:t>Brittle: one dominant instruction overrides context</a:t>
            </a:r>
          </a:p>
        </p:txBody>
      </p:sp>
      <p:sp>
        <p:nvSpPr>
          <p:cNvPr id="13" name="h2p-4-row2-psi-text-1"/>
          <p:cNvSpPr txBox="1"/>
          <p:nvPr/>
        </p:nvSpPr>
        <p:spPr>
          <a:xfrm>
            <a:off x="11620195" y="4190695"/>
            <a:ext cx="5440680" cy="10479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C1A17"/>
                </a:solidFill>
                <a:latin typeface="Calibri"/>
              </a:rPr>
              <a:t>Graceful: urgency and caution rebalance dynamically</a:t>
            </a:r>
          </a:p>
        </p:txBody>
      </p:sp>
      <p:sp>
        <p:nvSpPr>
          <p:cNvPr id="14" name="h2p-4-rule2-box-1"/>
          <p:cNvSpPr/>
          <p:nvPr/>
        </p:nvSpPr>
        <p:spPr>
          <a:xfrm>
            <a:off x="1143000" y="5429707"/>
            <a:ext cx="16002000" cy="19202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4-row3-label-text-1"/>
          <p:cNvSpPr txBox="1"/>
          <p:nvPr/>
        </p:nvSpPr>
        <p:spPr>
          <a:xfrm>
            <a:off x="1143000" y="5715000"/>
            <a:ext cx="4663440" cy="76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950">
                <a:solidFill>
                  <a:srgbClr val="1C1A17"/>
                </a:solidFill>
                <a:latin typeface="Calibri"/>
              </a:rPr>
              <a:t>Arbitration mechanism</a:t>
            </a:r>
          </a:p>
        </p:txBody>
      </p:sp>
      <p:sp>
        <p:nvSpPr>
          <p:cNvPr id="16" name="h2p-4-row3-base-text-1"/>
          <p:cNvSpPr txBox="1"/>
          <p:nvPr/>
        </p:nvSpPr>
        <p:spPr>
          <a:xfrm>
            <a:off x="6096304" y="5715000"/>
            <a:ext cx="4857292" cy="10479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C1A17"/>
                </a:solidFill>
                <a:latin typeface="Calibri"/>
              </a:rPr>
              <a:t>None — first satisfying output wins</a:t>
            </a:r>
          </a:p>
        </p:txBody>
      </p:sp>
      <p:sp>
        <p:nvSpPr>
          <p:cNvPr id="17" name="h2p-4-row3-psi-text-1"/>
          <p:cNvSpPr txBox="1"/>
          <p:nvPr/>
        </p:nvSpPr>
        <p:spPr>
          <a:xfrm>
            <a:off x="11620195" y="5715000"/>
            <a:ext cx="5440680" cy="10479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B4472A"/>
                </a:solidFill>
                <a:latin typeface="Calibri"/>
              </a:rPr>
              <a:t>Explicit motive weights, inspectable and tunable</a:t>
            </a:r>
          </a:p>
        </p:txBody>
      </p:sp>
      <p:sp>
        <p:nvSpPr>
          <p:cNvPr id="18" name="h2p-4-rule3-box-1"/>
          <p:cNvSpPr/>
          <p:nvPr/>
        </p:nvSpPr>
        <p:spPr>
          <a:xfrm>
            <a:off x="1143000" y="6953097"/>
            <a:ext cx="16002000" cy="19202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4-row4-label-text-1"/>
          <p:cNvSpPr txBox="1"/>
          <p:nvPr/>
        </p:nvSpPr>
        <p:spPr>
          <a:xfrm>
            <a:off x="1143000" y="7239304"/>
            <a:ext cx="4663440" cy="76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950">
                <a:solidFill>
                  <a:srgbClr val="1C1A17"/>
                </a:solidFill>
                <a:latin typeface="Calibri"/>
              </a:rPr>
              <a:t>Debuggability</a:t>
            </a:r>
          </a:p>
        </p:txBody>
      </p:sp>
      <p:sp>
        <p:nvSpPr>
          <p:cNvPr id="20" name="h2p-4-row4-base-text-1"/>
          <p:cNvSpPr txBox="1"/>
          <p:nvPr/>
        </p:nvSpPr>
        <p:spPr>
          <a:xfrm>
            <a:off x="6096304" y="7239304"/>
            <a:ext cx="4857292" cy="10479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C1A17"/>
                </a:solidFill>
                <a:latin typeface="Calibri"/>
              </a:rPr>
              <a:t>Opaque prompt tracing, hard to reproduce</a:t>
            </a:r>
          </a:p>
        </p:txBody>
      </p:sp>
      <p:sp>
        <p:nvSpPr>
          <p:cNvPr id="21" name="h2p-4-row4-psi-text-1"/>
          <p:cNvSpPr txBox="1"/>
          <p:nvPr/>
        </p:nvSpPr>
        <p:spPr>
          <a:xfrm>
            <a:off x="11620195" y="7239304"/>
            <a:ext cx="5440680" cy="10479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C1A17"/>
                </a:solidFill>
                <a:latin typeface="Calibri"/>
              </a:rPr>
              <a:t>Motive trace log shows why an action won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5-box-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5-close-title-text-1"/>
          <p:cNvSpPr txBox="1"/>
          <p:nvPr/>
        </p:nvSpPr>
        <p:spPr>
          <a:xfrm>
            <a:off x="1143000" y="857707"/>
            <a:ext cx="14859000" cy="6665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600">
                <a:solidFill>
                  <a:srgbClr val="1C1A17"/>
                </a:solidFill>
                <a:latin typeface="Cambria"/>
              </a:rPr>
              <a:t>Four questions before you ship</a:t>
            </a:r>
          </a:p>
        </p:txBody>
      </p:sp>
      <p:cxnSp>
        <p:nvCxnSpPr>
          <p:cNvPr id="4" name="h2p-5-check-1-line-1-part-1"/>
          <p:cNvCxnSpPr/>
          <p:nvPr/>
        </p:nvCxnSpPr>
        <p:spPr>
          <a:xfrm>
            <a:off x="1171346" y="2190902"/>
            <a:ext cx="0" cy="1238098"/>
          </a:xfrm>
          <a:prstGeom prst="line">
            <a:avLst/>
          </a:prstGeom>
          <a:ln w="57150">
            <a:solidFill>
              <a:srgbClr val="2F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h2p-5-text-2"/>
          <p:cNvSpPr txBox="1"/>
          <p:nvPr/>
        </p:nvSpPr>
        <p:spPr>
          <a:xfrm>
            <a:off x="1466697" y="2286000"/>
            <a:ext cx="16642080" cy="304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1C1A17"/>
                </a:solidFill>
                <a:latin typeface="Cambria"/>
              </a:rPr>
              <a:t>1. Can you name every motive in the agent, explicitly?</a:t>
            </a:r>
          </a:p>
        </p:txBody>
      </p:sp>
      <p:cxnSp>
        <p:nvCxnSpPr>
          <p:cNvPr id="6" name="h2p-5-check-2-line-1-part-1"/>
          <p:cNvCxnSpPr/>
          <p:nvPr/>
        </p:nvCxnSpPr>
        <p:spPr>
          <a:xfrm>
            <a:off x="1171346" y="3429000"/>
            <a:ext cx="0" cy="1238097"/>
          </a:xfrm>
          <a:prstGeom prst="line">
            <a:avLst/>
          </a:prstGeom>
          <a:ln w="57150">
            <a:solidFill>
              <a:srgbClr val="2F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h2p-5-text-3"/>
          <p:cNvSpPr txBox="1"/>
          <p:nvPr/>
        </p:nvSpPr>
        <p:spPr>
          <a:xfrm>
            <a:off x="1466697" y="3524097"/>
            <a:ext cx="16642080" cy="304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1C1A17"/>
                </a:solidFill>
                <a:latin typeface="Cambria"/>
              </a:rPr>
              <a:t>2. Do competing motives have inspectable, tunable weights?</a:t>
            </a:r>
          </a:p>
        </p:txBody>
      </p:sp>
      <p:cxnSp>
        <p:nvCxnSpPr>
          <p:cNvPr id="8" name="h2p-5-check-3-line-1-part-1"/>
          <p:cNvCxnSpPr/>
          <p:nvPr/>
        </p:nvCxnSpPr>
        <p:spPr>
          <a:xfrm>
            <a:off x="1171346" y="4667097"/>
            <a:ext cx="0" cy="1238098"/>
          </a:xfrm>
          <a:prstGeom prst="line">
            <a:avLst/>
          </a:prstGeom>
          <a:ln w="57150">
            <a:solidFill>
              <a:srgbClr val="2F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h2p-5-text-4"/>
          <p:cNvSpPr txBox="1"/>
          <p:nvPr/>
        </p:nvSpPr>
        <p:spPr>
          <a:xfrm>
            <a:off x="1466697" y="4762195"/>
            <a:ext cx="16642080" cy="304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1C1A17"/>
                </a:solidFill>
                <a:latin typeface="Cambria"/>
              </a:rPr>
              <a:t>3. Does the loop log which motive won, and why?</a:t>
            </a:r>
          </a:p>
        </p:txBody>
      </p:sp>
      <p:cxnSp>
        <p:nvCxnSpPr>
          <p:cNvPr id="10" name="h2p-5-check-4-line-1-part-1"/>
          <p:cNvCxnSpPr/>
          <p:nvPr/>
        </p:nvCxnSpPr>
        <p:spPr>
          <a:xfrm>
            <a:off x="1171346" y="5905195"/>
            <a:ext cx="0" cy="1238097"/>
          </a:xfrm>
          <a:prstGeom prst="line">
            <a:avLst/>
          </a:prstGeom>
          <a:ln w="57150">
            <a:solidFill>
              <a:srgbClr val="B44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2p-5-text-5"/>
          <p:cNvSpPr txBox="1"/>
          <p:nvPr/>
        </p:nvSpPr>
        <p:spPr>
          <a:xfrm>
            <a:off x="1466697" y="6000292"/>
            <a:ext cx="16642080" cy="304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B4472A"/>
                </a:solidFill>
                <a:latin typeface="Cambria"/>
              </a:rPr>
              <a:t>4. Does caution outweigh helpfulness when actions are irreversible?</a:t>
            </a:r>
          </a:p>
        </p:txBody>
      </p:sp>
      <p:sp>
        <p:nvSpPr>
          <p:cNvPr id="12" name="h2p-5-close-rule-box-1"/>
          <p:cNvSpPr/>
          <p:nvPr/>
        </p:nvSpPr>
        <p:spPr>
          <a:xfrm>
            <a:off x="1143000" y="7619695"/>
            <a:ext cx="2095804" cy="75895"/>
          </a:xfrm>
          <a:prstGeom prst="rect">
            <a:avLst/>
          </a:prstGeom>
          <a:solidFill>
            <a:srgbClr val="B4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5-close-line-text-1"/>
          <p:cNvSpPr txBox="1"/>
          <p:nvPr/>
        </p:nvSpPr>
        <p:spPr>
          <a:xfrm>
            <a:off x="1143000" y="8096097"/>
            <a:ext cx="16642080" cy="1238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1C1A17"/>
                </a:solidFill>
                <a:latin typeface="Cambria"/>
              </a:rPr>
              <a:t>Govern the motive, not just the 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